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IBM Plex Sans" panose="020B0503050203000203" pitchFamily="34" charset="0"/>
      <p:regular r:id="rId11"/>
    </p:embeddedFont>
    <p:embeddedFont>
      <p:font typeface="IBM Plex Sans Bold" panose="020B0803050203000203" charset="0"/>
      <p:regular r:id="rId12"/>
    </p:embeddedFont>
    <p:embeddedFont>
      <p:font typeface="IBM Plex Sans Condensed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svg"/><Relationship Id="rId7" Type="http://schemas.openxmlformats.org/officeDocument/2006/relationships/image" Target="../media/image6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5.svg"/><Relationship Id="rId7" Type="http://schemas.openxmlformats.org/officeDocument/2006/relationships/image" Target="../media/image8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7.svg"/><Relationship Id="rId10" Type="http://schemas.openxmlformats.org/officeDocument/2006/relationships/image" Target="../media/image9.png"/><Relationship Id="rId4" Type="http://schemas.openxmlformats.org/officeDocument/2006/relationships/image" Target="../media/image16.png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5143500"/>
            <a:ext cx="8477852" cy="5657039"/>
          </a:xfrm>
          <a:custGeom>
            <a:avLst/>
            <a:gdLst/>
            <a:ahLst/>
            <a:cxnLst/>
            <a:rect l="l" t="t" r="r" b="b"/>
            <a:pathLst>
              <a:path w="8477852" h="5657039">
                <a:moveTo>
                  <a:pt x="8477852" y="5657039"/>
                </a:moveTo>
                <a:lnTo>
                  <a:pt x="0" y="5657039"/>
                </a:lnTo>
                <a:lnTo>
                  <a:pt x="0" y="0"/>
                </a:lnTo>
                <a:lnTo>
                  <a:pt x="8477852" y="0"/>
                </a:lnTo>
                <a:lnTo>
                  <a:pt x="8477852" y="565703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60777" y="2246592"/>
            <a:ext cx="7198334" cy="6847415"/>
          </a:xfrm>
          <a:custGeom>
            <a:avLst/>
            <a:gdLst/>
            <a:ahLst/>
            <a:cxnLst/>
            <a:rect l="l" t="t" r="r" b="b"/>
            <a:pathLst>
              <a:path w="7198334" h="6847415">
                <a:moveTo>
                  <a:pt x="0" y="0"/>
                </a:moveTo>
                <a:lnTo>
                  <a:pt x="7198333" y="0"/>
                </a:lnTo>
                <a:lnTo>
                  <a:pt x="7198333" y="6847415"/>
                </a:lnTo>
                <a:lnTo>
                  <a:pt x="0" y="6847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19050" y="0"/>
            <a:ext cx="2403281" cy="1961951"/>
          </a:xfrm>
          <a:custGeom>
            <a:avLst/>
            <a:gdLst/>
            <a:ahLst/>
            <a:cxnLst/>
            <a:rect l="l" t="t" r="r" b="b"/>
            <a:pathLst>
              <a:path w="2403281" h="1961951">
                <a:moveTo>
                  <a:pt x="2403281" y="0"/>
                </a:moveTo>
                <a:lnTo>
                  <a:pt x="0" y="0"/>
                </a:lnTo>
                <a:lnTo>
                  <a:pt x="0" y="1961951"/>
                </a:lnTo>
                <a:lnTo>
                  <a:pt x="2403281" y="1961951"/>
                </a:lnTo>
                <a:lnTo>
                  <a:pt x="240328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9050" y="0"/>
            <a:ext cx="2145705" cy="1751676"/>
          </a:xfrm>
          <a:custGeom>
            <a:avLst/>
            <a:gdLst/>
            <a:ahLst/>
            <a:cxnLst/>
            <a:rect l="l" t="t" r="r" b="b"/>
            <a:pathLst>
              <a:path w="2145705" h="1751676">
                <a:moveTo>
                  <a:pt x="2145705" y="0"/>
                </a:moveTo>
                <a:lnTo>
                  <a:pt x="0" y="0"/>
                </a:lnTo>
                <a:lnTo>
                  <a:pt x="0" y="1751676"/>
                </a:lnTo>
                <a:lnTo>
                  <a:pt x="2145705" y="1751676"/>
                </a:lnTo>
                <a:lnTo>
                  <a:pt x="214570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743744" y="0"/>
            <a:ext cx="5544256" cy="1351963"/>
          </a:xfrm>
          <a:custGeom>
            <a:avLst/>
            <a:gdLst/>
            <a:ahLst/>
            <a:cxnLst/>
            <a:rect l="l" t="t" r="r" b="b"/>
            <a:pathLst>
              <a:path w="5544256" h="1351963">
                <a:moveTo>
                  <a:pt x="0" y="0"/>
                </a:moveTo>
                <a:lnTo>
                  <a:pt x="5544256" y="0"/>
                </a:lnTo>
                <a:lnTo>
                  <a:pt x="5544256" y="1351963"/>
                </a:lnTo>
                <a:lnTo>
                  <a:pt x="0" y="13519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b="-11501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859110" y="2786419"/>
            <a:ext cx="9383235" cy="1868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83"/>
              </a:lnSpc>
            </a:pPr>
            <a:r>
              <a:rPr lang="en-US" sz="7561" b="1">
                <a:solidFill>
                  <a:srgbClr val="1B1A17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OFFICE MANAGEMENT 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83998" y="7972020"/>
            <a:ext cx="7571745" cy="2278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60"/>
              </a:lnSpc>
            </a:pPr>
            <a:r>
              <a:rPr lang="en-US" sz="3000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Name : Zinzuvadiya Krish Kamleshbhai</a:t>
            </a:r>
          </a:p>
          <a:p>
            <a:pPr algn="just">
              <a:lnSpc>
                <a:spcPts val="3660"/>
              </a:lnSpc>
            </a:pPr>
            <a:r>
              <a:rPr lang="en-US" sz="3000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Enrollment No.: 23002170210138</a:t>
            </a:r>
          </a:p>
          <a:p>
            <a:pPr algn="just">
              <a:lnSpc>
                <a:spcPts val="3660"/>
              </a:lnSpc>
            </a:pPr>
            <a:r>
              <a:rPr lang="en-US" sz="3000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Roll No.: 197</a:t>
            </a:r>
          </a:p>
          <a:p>
            <a:pPr algn="just">
              <a:lnSpc>
                <a:spcPts val="3660"/>
              </a:lnSpc>
            </a:pPr>
            <a:r>
              <a:rPr lang="en-US" sz="3000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Batch: C1</a:t>
            </a:r>
          </a:p>
          <a:p>
            <a:pPr algn="just">
              <a:lnSpc>
                <a:spcPts val="3660"/>
              </a:lnSpc>
            </a:pPr>
            <a:r>
              <a:rPr lang="en-US" sz="3000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Branch: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86350" y="2526627"/>
            <a:ext cx="8115300" cy="1035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8000" b="1">
                <a:solidFill>
                  <a:srgbClr val="1B1A17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744384" y="4844386"/>
            <a:ext cx="10799232" cy="410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660"/>
              </a:lnSpc>
              <a:buFont typeface="Arial"/>
              <a:buChar char="•"/>
            </a:pPr>
            <a:r>
              <a:rPr lang="en-US" sz="3000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Modern organizations require efficient systems to manage employees, departments, and leave requests.</a:t>
            </a:r>
          </a:p>
          <a:p>
            <a:pPr algn="l">
              <a:lnSpc>
                <a:spcPts val="3660"/>
              </a:lnSpc>
            </a:pPr>
            <a:endParaRPr lang="en-US" sz="3000">
              <a:solidFill>
                <a:srgbClr val="1B1A1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647700" lvl="1" indent="-323850" algn="l">
              <a:lnSpc>
                <a:spcPts val="3660"/>
              </a:lnSpc>
              <a:buFont typeface="Arial"/>
              <a:buChar char="•"/>
            </a:pPr>
            <a:r>
              <a:rPr lang="en-US" sz="3000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It helps organizations manage employee information, department details, and leave requests in a centralized system.</a:t>
            </a:r>
          </a:p>
          <a:p>
            <a:pPr algn="l">
              <a:lnSpc>
                <a:spcPts val="3660"/>
              </a:lnSpc>
            </a:pPr>
            <a:endParaRPr lang="en-US" sz="3000">
              <a:solidFill>
                <a:srgbClr val="1B1A1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647700" lvl="1" indent="-323850" algn="l">
              <a:lnSpc>
                <a:spcPts val="3660"/>
              </a:lnSpc>
              <a:buFont typeface="Arial"/>
              <a:buChar char="•"/>
            </a:pPr>
            <a:r>
              <a:rPr lang="en-US" sz="3000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Office Management System is designed to automate these processes through a secure web-based application.</a:t>
            </a:r>
          </a:p>
        </p:txBody>
      </p:sp>
      <p:sp>
        <p:nvSpPr>
          <p:cNvPr id="4" name="Freeform 4"/>
          <p:cNvSpPr/>
          <p:nvPr/>
        </p:nvSpPr>
        <p:spPr>
          <a:xfrm flipH="1" flipV="1">
            <a:off x="-19050" y="8325049"/>
            <a:ext cx="2403281" cy="1961951"/>
          </a:xfrm>
          <a:custGeom>
            <a:avLst/>
            <a:gdLst/>
            <a:ahLst/>
            <a:cxnLst/>
            <a:rect l="l" t="t" r="r" b="b"/>
            <a:pathLst>
              <a:path w="2403281" h="1961951">
                <a:moveTo>
                  <a:pt x="2403281" y="1961951"/>
                </a:moveTo>
                <a:lnTo>
                  <a:pt x="0" y="1961951"/>
                </a:lnTo>
                <a:lnTo>
                  <a:pt x="0" y="0"/>
                </a:lnTo>
                <a:lnTo>
                  <a:pt x="2403281" y="0"/>
                </a:lnTo>
                <a:lnTo>
                  <a:pt x="2403281" y="196195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19050" y="8535324"/>
            <a:ext cx="2145705" cy="1751676"/>
          </a:xfrm>
          <a:custGeom>
            <a:avLst/>
            <a:gdLst/>
            <a:ahLst/>
            <a:cxnLst/>
            <a:rect l="l" t="t" r="r" b="b"/>
            <a:pathLst>
              <a:path w="2145705" h="1751676">
                <a:moveTo>
                  <a:pt x="2145705" y="1751676"/>
                </a:moveTo>
                <a:lnTo>
                  <a:pt x="0" y="1751676"/>
                </a:lnTo>
                <a:lnTo>
                  <a:pt x="0" y="0"/>
                </a:lnTo>
                <a:lnTo>
                  <a:pt x="2145705" y="0"/>
                </a:lnTo>
                <a:lnTo>
                  <a:pt x="2145705" y="175167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743744" y="0"/>
            <a:ext cx="5544256" cy="1351963"/>
          </a:xfrm>
          <a:custGeom>
            <a:avLst/>
            <a:gdLst/>
            <a:ahLst/>
            <a:cxnLst/>
            <a:rect l="l" t="t" r="r" b="b"/>
            <a:pathLst>
              <a:path w="5544256" h="1351963">
                <a:moveTo>
                  <a:pt x="0" y="0"/>
                </a:moveTo>
                <a:lnTo>
                  <a:pt x="5544256" y="0"/>
                </a:lnTo>
                <a:lnTo>
                  <a:pt x="5544256" y="1351963"/>
                </a:lnTo>
                <a:lnTo>
                  <a:pt x="0" y="13519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115019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7297641"/>
            <a:ext cx="5249576" cy="3502899"/>
          </a:xfrm>
          <a:custGeom>
            <a:avLst/>
            <a:gdLst/>
            <a:ahLst/>
            <a:cxnLst/>
            <a:rect l="l" t="t" r="r" b="b"/>
            <a:pathLst>
              <a:path w="5249576" h="3502899">
                <a:moveTo>
                  <a:pt x="5249576" y="3502898"/>
                </a:moveTo>
                <a:lnTo>
                  <a:pt x="0" y="3502898"/>
                </a:lnTo>
                <a:lnTo>
                  <a:pt x="0" y="0"/>
                </a:lnTo>
                <a:lnTo>
                  <a:pt x="5249576" y="0"/>
                </a:lnTo>
                <a:lnTo>
                  <a:pt x="5249576" y="350289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29790" y="3431176"/>
            <a:ext cx="7775855" cy="5919369"/>
          </a:xfrm>
          <a:custGeom>
            <a:avLst/>
            <a:gdLst/>
            <a:ahLst/>
            <a:cxnLst/>
            <a:rect l="l" t="t" r="r" b="b"/>
            <a:pathLst>
              <a:path w="7775855" h="5919369">
                <a:moveTo>
                  <a:pt x="0" y="0"/>
                </a:moveTo>
                <a:lnTo>
                  <a:pt x="7775855" y="0"/>
                </a:lnTo>
                <a:lnTo>
                  <a:pt x="7775855" y="5919369"/>
                </a:lnTo>
                <a:lnTo>
                  <a:pt x="0" y="59193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1028700" y="1209675"/>
            <a:ext cx="8115300" cy="1997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>
                <a:solidFill>
                  <a:srgbClr val="1B1A17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PROJECT </a:t>
            </a:r>
          </a:p>
          <a:p>
            <a:pPr algn="l">
              <a:lnSpc>
                <a:spcPts val="7600"/>
              </a:lnSpc>
            </a:pPr>
            <a:r>
              <a:rPr lang="en-US" sz="8000" b="1">
                <a:solidFill>
                  <a:srgbClr val="1B1A17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OBJECTIVE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67762" y="3780664"/>
            <a:ext cx="7891538" cy="6033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0404" lvl="1" indent="-330202" algn="l">
              <a:lnSpc>
                <a:spcPts val="3731"/>
              </a:lnSpc>
              <a:buFont typeface="Arial"/>
              <a:buChar char="•"/>
            </a:pPr>
            <a:r>
              <a:rPr lang="en-US" sz="3058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Develop a centralized employee management system</a:t>
            </a:r>
          </a:p>
          <a:p>
            <a:pPr algn="l">
              <a:lnSpc>
                <a:spcPts val="3731"/>
              </a:lnSpc>
            </a:pPr>
            <a:endParaRPr lang="en-US" sz="3058">
              <a:solidFill>
                <a:srgbClr val="1B1A1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660404" lvl="1" indent="-330202" algn="l">
              <a:lnSpc>
                <a:spcPts val="3731"/>
              </a:lnSpc>
              <a:buFont typeface="Arial"/>
              <a:buChar char="•"/>
            </a:pPr>
            <a:r>
              <a:rPr lang="en-US" sz="3058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Implement a leave management system</a:t>
            </a:r>
          </a:p>
          <a:p>
            <a:pPr algn="l">
              <a:lnSpc>
                <a:spcPts val="3731"/>
              </a:lnSpc>
            </a:pPr>
            <a:endParaRPr lang="en-US" sz="3058">
              <a:solidFill>
                <a:srgbClr val="1B1A1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660404" lvl="1" indent="-330202" algn="l">
              <a:lnSpc>
                <a:spcPts val="3731"/>
              </a:lnSpc>
              <a:buFont typeface="Arial"/>
              <a:buChar char="•"/>
            </a:pPr>
            <a:r>
              <a:rPr lang="en-US" sz="3058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Manage departments and employee information</a:t>
            </a:r>
          </a:p>
          <a:p>
            <a:pPr algn="l">
              <a:lnSpc>
                <a:spcPts val="3731"/>
              </a:lnSpc>
            </a:pPr>
            <a:endParaRPr lang="en-US" sz="3058">
              <a:solidFill>
                <a:srgbClr val="1B1A1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660404" lvl="1" indent="-330202" algn="l">
              <a:lnSpc>
                <a:spcPts val="3731"/>
              </a:lnSpc>
              <a:buFont typeface="Arial"/>
              <a:buChar char="•"/>
            </a:pPr>
            <a:r>
              <a:rPr lang="en-US" sz="3058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Provide role-based access control</a:t>
            </a:r>
          </a:p>
          <a:p>
            <a:pPr algn="l">
              <a:lnSpc>
                <a:spcPts val="3731"/>
              </a:lnSpc>
            </a:pPr>
            <a:endParaRPr lang="en-US" sz="3058">
              <a:solidFill>
                <a:srgbClr val="1B1A1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660404" lvl="1" indent="-330202" algn="l">
              <a:lnSpc>
                <a:spcPts val="3731"/>
              </a:lnSpc>
              <a:buFont typeface="Arial"/>
              <a:buChar char="•"/>
            </a:pPr>
            <a:r>
              <a:rPr lang="en-US" sz="3058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Automate leave approval workflow</a:t>
            </a:r>
          </a:p>
          <a:p>
            <a:pPr algn="l">
              <a:lnSpc>
                <a:spcPts val="3731"/>
              </a:lnSpc>
            </a:pPr>
            <a:endParaRPr lang="en-US" sz="3058">
              <a:solidFill>
                <a:srgbClr val="1B1A1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660404" lvl="1" indent="-330202" algn="l">
              <a:lnSpc>
                <a:spcPts val="3731"/>
              </a:lnSpc>
              <a:buFont typeface="Arial"/>
              <a:buChar char="•"/>
            </a:pPr>
            <a:r>
              <a:rPr lang="en-US" sz="3058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Ensure secure authentication using JWT</a:t>
            </a:r>
          </a:p>
        </p:txBody>
      </p:sp>
      <p:sp>
        <p:nvSpPr>
          <p:cNvPr id="6" name="Freeform 6"/>
          <p:cNvSpPr/>
          <p:nvPr/>
        </p:nvSpPr>
        <p:spPr>
          <a:xfrm>
            <a:off x="12743744" y="0"/>
            <a:ext cx="5544256" cy="1351963"/>
          </a:xfrm>
          <a:custGeom>
            <a:avLst/>
            <a:gdLst/>
            <a:ahLst/>
            <a:cxnLst/>
            <a:rect l="l" t="t" r="r" b="b"/>
            <a:pathLst>
              <a:path w="5544256" h="1351963">
                <a:moveTo>
                  <a:pt x="0" y="0"/>
                </a:moveTo>
                <a:lnTo>
                  <a:pt x="5544256" y="0"/>
                </a:lnTo>
                <a:lnTo>
                  <a:pt x="5544256" y="1351963"/>
                </a:lnTo>
                <a:lnTo>
                  <a:pt x="0" y="13519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115019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6102710"/>
            <a:ext cx="7213674" cy="4813488"/>
          </a:xfrm>
          <a:custGeom>
            <a:avLst/>
            <a:gdLst/>
            <a:ahLst/>
            <a:cxnLst/>
            <a:rect l="l" t="t" r="r" b="b"/>
            <a:pathLst>
              <a:path w="7213674" h="4813488">
                <a:moveTo>
                  <a:pt x="7213674" y="4813487"/>
                </a:moveTo>
                <a:lnTo>
                  <a:pt x="0" y="4813487"/>
                </a:lnTo>
                <a:lnTo>
                  <a:pt x="0" y="0"/>
                </a:lnTo>
                <a:lnTo>
                  <a:pt x="7213674" y="0"/>
                </a:lnTo>
                <a:lnTo>
                  <a:pt x="7213674" y="481348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5884719" y="8325049"/>
            <a:ext cx="2403281" cy="1961951"/>
          </a:xfrm>
          <a:custGeom>
            <a:avLst/>
            <a:gdLst/>
            <a:ahLst/>
            <a:cxnLst/>
            <a:rect l="l" t="t" r="r" b="b"/>
            <a:pathLst>
              <a:path w="2403281" h="1961951">
                <a:moveTo>
                  <a:pt x="0" y="1961951"/>
                </a:moveTo>
                <a:lnTo>
                  <a:pt x="2403281" y="1961951"/>
                </a:lnTo>
                <a:lnTo>
                  <a:pt x="2403281" y="0"/>
                </a:lnTo>
                <a:lnTo>
                  <a:pt x="0" y="0"/>
                </a:lnTo>
                <a:lnTo>
                  <a:pt x="0" y="196195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16142295" y="8535324"/>
            <a:ext cx="2145705" cy="1751676"/>
          </a:xfrm>
          <a:custGeom>
            <a:avLst/>
            <a:gdLst/>
            <a:ahLst/>
            <a:cxnLst/>
            <a:rect l="l" t="t" r="r" b="b"/>
            <a:pathLst>
              <a:path w="2145705" h="1751676">
                <a:moveTo>
                  <a:pt x="0" y="1751676"/>
                </a:moveTo>
                <a:lnTo>
                  <a:pt x="2145705" y="1751676"/>
                </a:lnTo>
                <a:lnTo>
                  <a:pt x="2145705" y="0"/>
                </a:lnTo>
                <a:lnTo>
                  <a:pt x="0" y="0"/>
                </a:lnTo>
                <a:lnTo>
                  <a:pt x="0" y="175167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743744" y="0"/>
            <a:ext cx="5544256" cy="1351963"/>
          </a:xfrm>
          <a:custGeom>
            <a:avLst/>
            <a:gdLst/>
            <a:ahLst/>
            <a:cxnLst/>
            <a:rect l="l" t="t" r="r" b="b"/>
            <a:pathLst>
              <a:path w="5544256" h="1351963">
                <a:moveTo>
                  <a:pt x="0" y="0"/>
                </a:moveTo>
                <a:lnTo>
                  <a:pt x="5544256" y="0"/>
                </a:lnTo>
                <a:lnTo>
                  <a:pt x="5544256" y="1351963"/>
                </a:lnTo>
                <a:lnTo>
                  <a:pt x="0" y="13519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115019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28700" y="4014945"/>
            <a:ext cx="5454524" cy="3086100"/>
            <a:chOff x="0" y="0"/>
            <a:chExt cx="1436582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6582" cy="812800"/>
            </a:xfrm>
            <a:custGeom>
              <a:avLst/>
              <a:gdLst/>
              <a:ahLst/>
              <a:cxnLst/>
              <a:rect l="l" t="t" r="r" b="b"/>
              <a:pathLst>
                <a:path w="1436582" h="812800">
                  <a:moveTo>
                    <a:pt x="72387" y="0"/>
                  </a:moveTo>
                  <a:lnTo>
                    <a:pt x="1364195" y="0"/>
                  </a:lnTo>
                  <a:cubicBezTo>
                    <a:pt x="1404174" y="0"/>
                    <a:pt x="1436582" y="32409"/>
                    <a:pt x="1436582" y="72387"/>
                  </a:cubicBezTo>
                  <a:lnTo>
                    <a:pt x="1436582" y="740413"/>
                  </a:lnTo>
                  <a:cubicBezTo>
                    <a:pt x="1436582" y="780391"/>
                    <a:pt x="1404174" y="812800"/>
                    <a:pt x="1364195" y="812800"/>
                  </a:cubicBezTo>
                  <a:lnTo>
                    <a:pt x="72387" y="812800"/>
                  </a:lnTo>
                  <a:cubicBezTo>
                    <a:pt x="32409" y="812800"/>
                    <a:pt x="0" y="780391"/>
                    <a:pt x="0" y="740413"/>
                  </a:cubicBezTo>
                  <a:lnTo>
                    <a:pt x="0" y="72387"/>
                  </a:lnTo>
                  <a:cubicBezTo>
                    <a:pt x="0" y="32409"/>
                    <a:pt x="32409" y="0"/>
                    <a:pt x="72387" y="0"/>
                  </a:cubicBezTo>
                  <a:close/>
                </a:path>
              </a:pathLst>
            </a:custGeom>
            <a:solidFill>
              <a:srgbClr val="3E5BB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436582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782521" y="2061312"/>
            <a:ext cx="10722959" cy="1035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8000" b="1">
                <a:solidFill>
                  <a:srgbClr val="1B1A17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TECHNOLOGY STACK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9500" y="4473988"/>
            <a:ext cx="4846041" cy="2158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4275" lvl="1" indent="-382138" algn="l">
              <a:lnSpc>
                <a:spcPts val="4318"/>
              </a:lnSpc>
              <a:buFont typeface="Arial"/>
              <a:buChar char="•"/>
            </a:pPr>
            <a:r>
              <a:rPr lang="en-US" sz="353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Angular</a:t>
            </a:r>
          </a:p>
          <a:p>
            <a:pPr marL="764275" lvl="1" indent="-382138" algn="l">
              <a:lnSpc>
                <a:spcPts val="4318"/>
              </a:lnSpc>
              <a:buFont typeface="Arial"/>
              <a:buChar char="•"/>
            </a:pPr>
            <a:r>
              <a:rPr lang="en-US" sz="353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HTML</a:t>
            </a:r>
          </a:p>
          <a:p>
            <a:pPr marL="764275" lvl="1" indent="-382138" algn="l">
              <a:lnSpc>
                <a:spcPts val="4318"/>
              </a:lnSpc>
              <a:buFont typeface="Arial"/>
              <a:buChar char="•"/>
            </a:pPr>
            <a:r>
              <a:rPr lang="en-US" sz="353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CSS</a:t>
            </a:r>
          </a:p>
          <a:p>
            <a:pPr marL="764275" lvl="1" indent="-382138" algn="l">
              <a:lnSpc>
                <a:spcPts val="4318"/>
              </a:lnSpc>
              <a:buFont typeface="Arial"/>
              <a:buChar char="•"/>
            </a:pPr>
            <a:r>
              <a:rPr lang="en-US" sz="353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TypeScript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67851" y="3360391"/>
            <a:ext cx="227797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3600" b="1">
                <a:solidFill>
                  <a:srgbClr val="1B1A17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FRONTEND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37268" y="3360391"/>
            <a:ext cx="227797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3600" b="1">
                <a:solidFill>
                  <a:srgbClr val="1B1A17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BACKEND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725762" y="4014945"/>
            <a:ext cx="5454524" cy="3086100"/>
            <a:chOff x="0" y="0"/>
            <a:chExt cx="1436582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36582" cy="812800"/>
            </a:xfrm>
            <a:custGeom>
              <a:avLst/>
              <a:gdLst/>
              <a:ahLst/>
              <a:cxnLst/>
              <a:rect l="l" t="t" r="r" b="b"/>
              <a:pathLst>
                <a:path w="1436582" h="812800">
                  <a:moveTo>
                    <a:pt x="72387" y="0"/>
                  </a:moveTo>
                  <a:lnTo>
                    <a:pt x="1364195" y="0"/>
                  </a:lnTo>
                  <a:cubicBezTo>
                    <a:pt x="1404174" y="0"/>
                    <a:pt x="1436582" y="32409"/>
                    <a:pt x="1436582" y="72387"/>
                  </a:cubicBezTo>
                  <a:lnTo>
                    <a:pt x="1436582" y="740413"/>
                  </a:lnTo>
                  <a:cubicBezTo>
                    <a:pt x="1436582" y="780391"/>
                    <a:pt x="1404174" y="812800"/>
                    <a:pt x="1364195" y="812800"/>
                  </a:cubicBezTo>
                  <a:lnTo>
                    <a:pt x="72387" y="812800"/>
                  </a:lnTo>
                  <a:cubicBezTo>
                    <a:pt x="32409" y="812800"/>
                    <a:pt x="0" y="780391"/>
                    <a:pt x="0" y="740413"/>
                  </a:cubicBezTo>
                  <a:lnTo>
                    <a:pt x="0" y="72387"/>
                  </a:lnTo>
                  <a:cubicBezTo>
                    <a:pt x="0" y="32409"/>
                    <a:pt x="32409" y="0"/>
                    <a:pt x="72387" y="0"/>
                  </a:cubicBezTo>
                  <a:close/>
                </a:path>
              </a:pathLst>
            </a:custGeom>
            <a:solidFill>
              <a:srgbClr val="3E5BB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436582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030003" y="4473988"/>
            <a:ext cx="4846041" cy="161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4275" lvl="1" indent="-382138" algn="l">
              <a:lnSpc>
                <a:spcPts val="4318"/>
              </a:lnSpc>
              <a:buFont typeface="Arial"/>
              <a:buChar char="•"/>
            </a:pPr>
            <a:r>
              <a:rPr lang="en-US" sz="353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ASP.NET Core Web API</a:t>
            </a:r>
          </a:p>
          <a:p>
            <a:pPr marL="764275" lvl="1" indent="-382138" algn="l">
              <a:lnSpc>
                <a:spcPts val="4318"/>
              </a:lnSpc>
              <a:buFont typeface="Arial"/>
              <a:buChar char="•"/>
            </a:pPr>
            <a:r>
              <a:rPr lang="en-US" sz="353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C#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006686" y="3360391"/>
            <a:ext cx="227797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3600" b="1">
                <a:solidFill>
                  <a:srgbClr val="1B1A17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DATABASE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418410" y="4014945"/>
            <a:ext cx="5454524" cy="3086100"/>
            <a:chOff x="0" y="0"/>
            <a:chExt cx="1436582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36582" cy="812800"/>
            </a:xfrm>
            <a:custGeom>
              <a:avLst/>
              <a:gdLst/>
              <a:ahLst/>
              <a:cxnLst/>
              <a:rect l="l" t="t" r="r" b="b"/>
              <a:pathLst>
                <a:path w="1436582" h="812800">
                  <a:moveTo>
                    <a:pt x="72387" y="0"/>
                  </a:moveTo>
                  <a:lnTo>
                    <a:pt x="1364195" y="0"/>
                  </a:lnTo>
                  <a:cubicBezTo>
                    <a:pt x="1404174" y="0"/>
                    <a:pt x="1436582" y="32409"/>
                    <a:pt x="1436582" y="72387"/>
                  </a:cubicBezTo>
                  <a:lnTo>
                    <a:pt x="1436582" y="740413"/>
                  </a:lnTo>
                  <a:cubicBezTo>
                    <a:pt x="1436582" y="780391"/>
                    <a:pt x="1404174" y="812800"/>
                    <a:pt x="1364195" y="812800"/>
                  </a:cubicBezTo>
                  <a:lnTo>
                    <a:pt x="72387" y="812800"/>
                  </a:lnTo>
                  <a:cubicBezTo>
                    <a:pt x="32409" y="812800"/>
                    <a:pt x="0" y="780391"/>
                    <a:pt x="0" y="740413"/>
                  </a:cubicBezTo>
                  <a:lnTo>
                    <a:pt x="0" y="72387"/>
                  </a:lnTo>
                  <a:cubicBezTo>
                    <a:pt x="0" y="32409"/>
                    <a:pt x="32409" y="0"/>
                    <a:pt x="72387" y="0"/>
                  </a:cubicBezTo>
                  <a:close/>
                </a:path>
              </a:pathLst>
            </a:custGeom>
            <a:solidFill>
              <a:srgbClr val="3E5BB2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1436582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743744" y="4483710"/>
            <a:ext cx="4846041" cy="161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4275" lvl="1" indent="-382138" algn="l">
              <a:lnSpc>
                <a:spcPts val="4318"/>
              </a:lnSpc>
              <a:buFont typeface="Arial"/>
              <a:buChar char="•"/>
            </a:pPr>
            <a:r>
              <a:rPr lang="en-US" sz="353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SQLite</a:t>
            </a:r>
          </a:p>
          <a:p>
            <a:pPr marL="764275" lvl="1" indent="-382138" algn="l">
              <a:lnSpc>
                <a:spcPts val="4318"/>
              </a:lnSpc>
              <a:buFont typeface="Arial"/>
              <a:buChar char="•"/>
            </a:pPr>
            <a:r>
              <a:rPr lang="en-US" sz="353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Entity Framework Core (ORM)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9050" y="6915047"/>
            <a:ext cx="4130454" cy="3371953"/>
          </a:xfrm>
          <a:custGeom>
            <a:avLst/>
            <a:gdLst/>
            <a:ahLst/>
            <a:cxnLst/>
            <a:rect l="l" t="t" r="r" b="b"/>
            <a:pathLst>
              <a:path w="4130454" h="3371953">
                <a:moveTo>
                  <a:pt x="4130454" y="3371953"/>
                </a:moveTo>
                <a:lnTo>
                  <a:pt x="0" y="3371953"/>
                </a:lnTo>
                <a:lnTo>
                  <a:pt x="0" y="0"/>
                </a:lnTo>
                <a:lnTo>
                  <a:pt x="4130454" y="0"/>
                </a:lnTo>
                <a:lnTo>
                  <a:pt x="4130454" y="33719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19050" y="7276443"/>
            <a:ext cx="3687765" cy="3010557"/>
          </a:xfrm>
          <a:custGeom>
            <a:avLst/>
            <a:gdLst/>
            <a:ahLst/>
            <a:cxnLst/>
            <a:rect l="l" t="t" r="r" b="b"/>
            <a:pathLst>
              <a:path w="3687765" h="3010557">
                <a:moveTo>
                  <a:pt x="3687765" y="3010557"/>
                </a:moveTo>
                <a:lnTo>
                  <a:pt x="0" y="3010557"/>
                </a:lnTo>
                <a:lnTo>
                  <a:pt x="0" y="0"/>
                </a:lnTo>
                <a:lnTo>
                  <a:pt x="3687765" y="0"/>
                </a:lnTo>
                <a:lnTo>
                  <a:pt x="3687765" y="301055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923462" y="2054263"/>
            <a:ext cx="10441076" cy="1997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8000" b="1">
                <a:solidFill>
                  <a:srgbClr val="1B1A17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FRONTEND &amp; BACKEND IMPLEMENTATION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57302" y="4566314"/>
            <a:ext cx="6314855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9"/>
              </a:lnSpc>
            </a:pPr>
            <a:r>
              <a:rPr lang="en-US" sz="2499" b="1">
                <a:solidFill>
                  <a:srgbClr val="1B1A1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FRONTEND (ANGULAR) COMPONENTS: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87506" y="4566314"/>
            <a:ext cx="7271794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9"/>
              </a:lnSpc>
            </a:pPr>
            <a:r>
              <a:rPr lang="en-US" sz="2499" b="1">
                <a:solidFill>
                  <a:srgbClr val="1B1A1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BACKEND (ASP.NET CORE API) COMPONENTS: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03663" y="5607988"/>
            <a:ext cx="4422134" cy="3173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0"/>
              </a:lnSpc>
            </a:pPr>
            <a:r>
              <a:rPr lang="en-US" sz="3000">
                <a:solidFill>
                  <a:srgbClr val="100F0D"/>
                </a:solidFill>
                <a:latin typeface="IBM Plex Sans"/>
                <a:ea typeface="IBM Plex Sans"/>
                <a:cs typeface="IBM Plex Sans"/>
                <a:sym typeface="IBM Plex Sans"/>
              </a:rPr>
              <a:t>◉  Login Page</a:t>
            </a:r>
          </a:p>
          <a:p>
            <a:pPr algn="l">
              <a:lnSpc>
                <a:spcPts val="5173"/>
              </a:lnSpc>
            </a:pPr>
            <a:r>
              <a:rPr lang="en-US" sz="3061">
                <a:solidFill>
                  <a:srgbClr val="100F0D"/>
                </a:solidFill>
                <a:latin typeface="IBM Plex Sans"/>
                <a:ea typeface="IBM Plex Sans"/>
                <a:cs typeface="IBM Plex Sans"/>
                <a:sym typeface="IBM Plex Sans"/>
              </a:rPr>
              <a:t>◉ Admin Dashboard</a:t>
            </a:r>
          </a:p>
          <a:p>
            <a:pPr algn="l">
              <a:lnSpc>
                <a:spcPts val="5173"/>
              </a:lnSpc>
            </a:pPr>
            <a:r>
              <a:rPr lang="en-US" sz="3061">
                <a:solidFill>
                  <a:srgbClr val="100F0D"/>
                </a:solidFill>
                <a:latin typeface="IBM Plex Sans"/>
                <a:ea typeface="IBM Plex Sans"/>
                <a:cs typeface="IBM Plex Sans"/>
                <a:sym typeface="IBM Plex Sans"/>
              </a:rPr>
              <a:t>◉ HR Dashboard</a:t>
            </a:r>
          </a:p>
          <a:p>
            <a:pPr algn="l">
              <a:lnSpc>
                <a:spcPts val="5173"/>
              </a:lnSpc>
            </a:pPr>
            <a:r>
              <a:rPr lang="en-US" sz="3061">
                <a:solidFill>
                  <a:srgbClr val="100F0D"/>
                </a:solidFill>
                <a:latin typeface="IBM Plex Sans"/>
                <a:ea typeface="IBM Plex Sans"/>
                <a:cs typeface="IBM Plex Sans"/>
                <a:sym typeface="IBM Plex Sans"/>
              </a:rPr>
              <a:t>◉ Employee Dashboard</a:t>
            </a:r>
          </a:p>
          <a:p>
            <a:pPr algn="l">
              <a:lnSpc>
                <a:spcPts val="5173"/>
              </a:lnSpc>
            </a:pPr>
            <a:endParaRPr lang="en-US" sz="3061">
              <a:solidFill>
                <a:srgbClr val="100F0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2743744" y="0"/>
            <a:ext cx="5544256" cy="1351963"/>
          </a:xfrm>
          <a:custGeom>
            <a:avLst/>
            <a:gdLst/>
            <a:ahLst/>
            <a:cxnLst/>
            <a:rect l="l" t="t" r="r" b="b"/>
            <a:pathLst>
              <a:path w="5544256" h="1351963">
                <a:moveTo>
                  <a:pt x="0" y="0"/>
                </a:moveTo>
                <a:lnTo>
                  <a:pt x="5544256" y="0"/>
                </a:lnTo>
                <a:lnTo>
                  <a:pt x="5544256" y="1351963"/>
                </a:lnTo>
                <a:lnTo>
                  <a:pt x="0" y="13519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115019"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9124950" y="4244515"/>
            <a:ext cx="0" cy="59331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1412336" y="5585356"/>
            <a:ext cx="4422134" cy="252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0"/>
              </a:lnSpc>
            </a:pPr>
            <a:r>
              <a:rPr lang="en-US" sz="3000">
                <a:solidFill>
                  <a:srgbClr val="100F0D"/>
                </a:solidFill>
                <a:latin typeface="IBM Plex Sans"/>
                <a:ea typeface="IBM Plex Sans"/>
                <a:cs typeface="IBM Plex Sans"/>
                <a:sym typeface="IBM Plex Sans"/>
              </a:rPr>
              <a:t>◉ Controllers</a:t>
            </a:r>
          </a:p>
          <a:p>
            <a:pPr algn="l">
              <a:lnSpc>
                <a:spcPts val="5173"/>
              </a:lnSpc>
            </a:pPr>
            <a:r>
              <a:rPr lang="en-US" sz="3061">
                <a:solidFill>
                  <a:srgbClr val="100F0D"/>
                </a:solidFill>
                <a:latin typeface="IBM Plex Sans"/>
                <a:ea typeface="IBM Plex Sans"/>
                <a:cs typeface="IBM Plex Sans"/>
                <a:sym typeface="IBM Plex Sans"/>
              </a:rPr>
              <a:t>◉ Entities &amp; DTOs</a:t>
            </a:r>
          </a:p>
          <a:p>
            <a:pPr algn="l">
              <a:lnSpc>
                <a:spcPts val="5173"/>
              </a:lnSpc>
            </a:pPr>
            <a:r>
              <a:rPr lang="en-US" sz="3061">
                <a:solidFill>
                  <a:srgbClr val="100F0D"/>
                </a:solidFill>
                <a:latin typeface="IBM Plex Sans"/>
                <a:ea typeface="IBM Plex Sans"/>
                <a:cs typeface="IBM Plex Sans"/>
                <a:sym typeface="IBM Plex Sans"/>
              </a:rPr>
              <a:t>◉ Repositories</a:t>
            </a:r>
          </a:p>
          <a:p>
            <a:pPr algn="l">
              <a:lnSpc>
                <a:spcPts val="5173"/>
              </a:lnSpc>
            </a:pPr>
            <a:r>
              <a:rPr lang="en-US" sz="3061">
                <a:solidFill>
                  <a:srgbClr val="100F0D"/>
                </a:solidFill>
                <a:latin typeface="IBM Plex Sans"/>
                <a:ea typeface="IBM Plex Sans"/>
                <a:cs typeface="IBM Plex Sans"/>
                <a:sym typeface="IBM Plex Sans"/>
              </a:rPr>
              <a:t>◉ Database 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93796" y="2038026"/>
            <a:ext cx="6986343" cy="6497299"/>
          </a:xfrm>
          <a:custGeom>
            <a:avLst/>
            <a:gdLst/>
            <a:ahLst/>
            <a:cxnLst/>
            <a:rect l="l" t="t" r="r" b="b"/>
            <a:pathLst>
              <a:path w="6986343" h="6497299">
                <a:moveTo>
                  <a:pt x="0" y="0"/>
                </a:moveTo>
                <a:lnTo>
                  <a:pt x="6986343" y="0"/>
                </a:lnTo>
                <a:lnTo>
                  <a:pt x="6986343" y="6497298"/>
                </a:lnTo>
                <a:lnTo>
                  <a:pt x="0" y="64972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>
            <a:off x="0" y="-1393518"/>
            <a:ext cx="6545714" cy="4367776"/>
          </a:xfrm>
          <a:custGeom>
            <a:avLst/>
            <a:gdLst/>
            <a:ahLst/>
            <a:cxnLst/>
            <a:rect l="l" t="t" r="r" b="b"/>
            <a:pathLst>
              <a:path w="6545714" h="4367776">
                <a:moveTo>
                  <a:pt x="6545714" y="0"/>
                </a:moveTo>
                <a:lnTo>
                  <a:pt x="0" y="0"/>
                </a:lnTo>
                <a:lnTo>
                  <a:pt x="0" y="4367777"/>
                </a:lnTo>
                <a:lnTo>
                  <a:pt x="6545714" y="4367777"/>
                </a:lnTo>
                <a:lnTo>
                  <a:pt x="65457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00721" y="2247259"/>
            <a:ext cx="12334411" cy="1035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>
                <a:solidFill>
                  <a:srgbClr val="1B1A17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USER ROLES &amp; WORKFLOW</a:t>
            </a:r>
          </a:p>
        </p:txBody>
      </p:sp>
      <p:sp>
        <p:nvSpPr>
          <p:cNvPr id="5" name="Freeform 5"/>
          <p:cNvSpPr/>
          <p:nvPr/>
        </p:nvSpPr>
        <p:spPr>
          <a:xfrm flipV="1">
            <a:off x="15884719" y="8325049"/>
            <a:ext cx="2403281" cy="1961951"/>
          </a:xfrm>
          <a:custGeom>
            <a:avLst/>
            <a:gdLst/>
            <a:ahLst/>
            <a:cxnLst/>
            <a:rect l="l" t="t" r="r" b="b"/>
            <a:pathLst>
              <a:path w="2403281" h="1961951">
                <a:moveTo>
                  <a:pt x="0" y="1961951"/>
                </a:moveTo>
                <a:lnTo>
                  <a:pt x="2403281" y="1961951"/>
                </a:lnTo>
                <a:lnTo>
                  <a:pt x="2403281" y="0"/>
                </a:lnTo>
                <a:lnTo>
                  <a:pt x="0" y="0"/>
                </a:lnTo>
                <a:lnTo>
                  <a:pt x="0" y="196195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16142295" y="8535324"/>
            <a:ext cx="2145705" cy="1751676"/>
          </a:xfrm>
          <a:custGeom>
            <a:avLst/>
            <a:gdLst/>
            <a:ahLst/>
            <a:cxnLst/>
            <a:rect l="l" t="t" r="r" b="b"/>
            <a:pathLst>
              <a:path w="2145705" h="1751676">
                <a:moveTo>
                  <a:pt x="0" y="1751676"/>
                </a:moveTo>
                <a:lnTo>
                  <a:pt x="2145705" y="1751676"/>
                </a:lnTo>
                <a:lnTo>
                  <a:pt x="2145705" y="0"/>
                </a:lnTo>
                <a:lnTo>
                  <a:pt x="0" y="0"/>
                </a:lnTo>
                <a:lnTo>
                  <a:pt x="0" y="175167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50163" y="3996631"/>
            <a:ext cx="7593837" cy="7365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8" lvl="1" indent="-291464" algn="l">
              <a:lnSpc>
                <a:spcPts val="3293"/>
              </a:lnSpc>
              <a:buFont typeface="Arial"/>
              <a:buChar char="•"/>
            </a:pPr>
            <a:r>
              <a:rPr lang="en-US" sz="2699" b="1">
                <a:solidFill>
                  <a:srgbClr val="1B1A1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Admin:</a:t>
            </a:r>
            <a:r>
              <a:rPr lang="en-US" sz="2699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 Full system access, Approve HR leaves</a:t>
            </a:r>
          </a:p>
          <a:p>
            <a:pPr algn="l">
              <a:lnSpc>
                <a:spcPts val="3293"/>
              </a:lnSpc>
            </a:pPr>
            <a:endParaRPr lang="en-US" sz="2699">
              <a:solidFill>
                <a:srgbClr val="1B1A1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582928" lvl="1" indent="-291464" algn="l">
              <a:lnSpc>
                <a:spcPts val="3293"/>
              </a:lnSpc>
              <a:buFont typeface="Arial"/>
              <a:buChar char="•"/>
            </a:pPr>
            <a:r>
              <a:rPr lang="en-US" sz="2699" b="1">
                <a:solidFill>
                  <a:srgbClr val="1B1A1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HR:</a:t>
            </a:r>
            <a:r>
              <a:rPr lang="en-US" sz="2699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 Manage employees, Approve employee leave requests</a:t>
            </a:r>
          </a:p>
          <a:p>
            <a:pPr algn="l">
              <a:lnSpc>
                <a:spcPts val="3293"/>
              </a:lnSpc>
            </a:pPr>
            <a:endParaRPr lang="en-US" sz="2699">
              <a:solidFill>
                <a:srgbClr val="1B1A1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582928" lvl="1" indent="-291464" algn="l">
              <a:lnSpc>
                <a:spcPts val="3293"/>
              </a:lnSpc>
              <a:buFont typeface="Arial"/>
              <a:buChar char="•"/>
            </a:pPr>
            <a:r>
              <a:rPr lang="en-US" sz="2699" b="1">
                <a:solidFill>
                  <a:srgbClr val="1B1A1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Employee:</a:t>
            </a:r>
            <a:r>
              <a:rPr lang="en-US" sz="2699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 View personal dashboard, Apply for leave</a:t>
            </a:r>
          </a:p>
          <a:p>
            <a:pPr algn="l">
              <a:lnSpc>
                <a:spcPts val="3293"/>
              </a:lnSpc>
            </a:pPr>
            <a:endParaRPr lang="en-US" sz="2699">
              <a:solidFill>
                <a:srgbClr val="1B1A1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582928" lvl="1" indent="-291464" algn="l">
              <a:lnSpc>
                <a:spcPts val="3293"/>
              </a:lnSpc>
              <a:buFont typeface="Arial"/>
              <a:buChar char="•"/>
            </a:pPr>
            <a:r>
              <a:rPr lang="en-US" sz="2699" b="1">
                <a:solidFill>
                  <a:srgbClr val="1B1A17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Leave Workflow:</a:t>
            </a:r>
          </a:p>
          <a:p>
            <a:pPr algn="l">
              <a:lnSpc>
                <a:spcPts val="3293"/>
              </a:lnSpc>
            </a:pPr>
            <a:r>
              <a:rPr lang="en-US" sz="2699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            - Employee submits leave request</a:t>
            </a:r>
          </a:p>
          <a:p>
            <a:pPr algn="l">
              <a:lnSpc>
                <a:spcPts val="3293"/>
              </a:lnSpc>
            </a:pPr>
            <a:r>
              <a:rPr lang="en-US" sz="2699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            - HR/Admin reviews request</a:t>
            </a:r>
          </a:p>
          <a:p>
            <a:pPr algn="l">
              <a:lnSpc>
                <a:spcPts val="3293"/>
              </a:lnSpc>
            </a:pPr>
            <a:r>
              <a:rPr lang="en-US" sz="2699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            - Leave is Approved or Rejected</a:t>
            </a:r>
          </a:p>
          <a:p>
            <a:pPr algn="l">
              <a:lnSpc>
                <a:spcPts val="3293"/>
              </a:lnSpc>
            </a:pPr>
            <a:r>
              <a:rPr lang="en-US" sz="2699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            - Leave balance updates automatically</a:t>
            </a:r>
          </a:p>
          <a:p>
            <a:pPr algn="l">
              <a:lnSpc>
                <a:spcPts val="3293"/>
              </a:lnSpc>
            </a:pPr>
            <a:endParaRPr lang="en-US" sz="2699">
              <a:solidFill>
                <a:srgbClr val="1B1A1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>
              <a:lnSpc>
                <a:spcPts val="3293"/>
              </a:lnSpc>
            </a:pPr>
            <a:endParaRPr lang="en-US" sz="2699">
              <a:solidFill>
                <a:srgbClr val="1B1A1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>
              <a:lnSpc>
                <a:spcPts val="3293"/>
              </a:lnSpc>
            </a:pPr>
            <a:endParaRPr lang="en-US" sz="2699">
              <a:solidFill>
                <a:srgbClr val="1B1A1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>
              <a:lnSpc>
                <a:spcPts val="3293"/>
              </a:lnSpc>
            </a:pPr>
            <a:endParaRPr lang="en-US" sz="2699">
              <a:solidFill>
                <a:srgbClr val="1B1A1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2743744" y="0"/>
            <a:ext cx="5544256" cy="1351963"/>
          </a:xfrm>
          <a:custGeom>
            <a:avLst/>
            <a:gdLst/>
            <a:ahLst/>
            <a:cxnLst/>
            <a:rect l="l" t="t" r="r" b="b"/>
            <a:pathLst>
              <a:path w="5544256" h="1351963">
                <a:moveTo>
                  <a:pt x="0" y="0"/>
                </a:moveTo>
                <a:lnTo>
                  <a:pt x="5544256" y="0"/>
                </a:lnTo>
                <a:lnTo>
                  <a:pt x="5544256" y="1351963"/>
                </a:lnTo>
                <a:lnTo>
                  <a:pt x="0" y="13519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b="-115019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73650" y="3146277"/>
            <a:ext cx="4000242" cy="5136748"/>
          </a:xfrm>
          <a:custGeom>
            <a:avLst/>
            <a:gdLst/>
            <a:ahLst/>
            <a:cxnLst/>
            <a:rect l="l" t="t" r="r" b="b"/>
            <a:pathLst>
              <a:path w="4000242" h="5136748">
                <a:moveTo>
                  <a:pt x="0" y="0"/>
                </a:moveTo>
                <a:lnTo>
                  <a:pt x="4000243" y="0"/>
                </a:lnTo>
                <a:lnTo>
                  <a:pt x="4000243" y="5136748"/>
                </a:lnTo>
                <a:lnTo>
                  <a:pt x="0" y="5136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0672" y="1822082"/>
            <a:ext cx="17146656" cy="1035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8000" b="1">
                <a:solidFill>
                  <a:srgbClr val="1B1A17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ADVANTAGES &amp; DISADVANTAGES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-19050" y="0"/>
            <a:ext cx="2403281" cy="1961951"/>
          </a:xfrm>
          <a:custGeom>
            <a:avLst/>
            <a:gdLst/>
            <a:ahLst/>
            <a:cxnLst/>
            <a:rect l="l" t="t" r="r" b="b"/>
            <a:pathLst>
              <a:path w="2403281" h="1961951">
                <a:moveTo>
                  <a:pt x="2403281" y="0"/>
                </a:moveTo>
                <a:lnTo>
                  <a:pt x="0" y="0"/>
                </a:lnTo>
                <a:lnTo>
                  <a:pt x="0" y="1961951"/>
                </a:lnTo>
                <a:lnTo>
                  <a:pt x="2403281" y="1961951"/>
                </a:lnTo>
                <a:lnTo>
                  <a:pt x="240328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9050" y="0"/>
            <a:ext cx="2145705" cy="1751676"/>
          </a:xfrm>
          <a:custGeom>
            <a:avLst/>
            <a:gdLst/>
            <a:ahLst/>
            <a:cxnLst/>
            <a:rect l="l" t="t" r="r" b="b"/>
            <a:pathLst>
              <a:path w="2145705" h="1751676">
                <a:moveTo>
                  <a:pt x="2145705" y="0"/>
                </a:moveTo>
                <a:lnTo>
                  <a:pt x="0" y="0"/>
                </a:lnTo>
                <a:lnTo>
                  <a:pt x="0" y="1751676"/>
                </a:lnTo>
                <a:lnTo>
                  <a:pt x="2145705" y="1751676"/>
                </a:lnTo>
                <a:lnTo>
                  <a:pt x="214570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743744" y="0"/>
            <a:ext cx="5544256" cy="1351963"/>
          </a:xfrm>
          <a:custGeom>
            <a:avLst/>
            <a:gdLst/>
            <a:ahLst/>
            <a:cxnLst/>
            <a:rect l="l" t="t" r="r" b="b"/>
            <a:pathLst>
              <a:path w="5544256" h="1351963">
                <a:moveTo>
                  <a:pt x="0" y="0"/>
                </a:moveTo>
                <a:lnTo>
                  <a:pt x="5544256" y="0"/>
                </a:lnTo>
                <a:lnTo>
                  <a:pt x="5544256" y="1351963"/>
                </a:lnTo>
                <a:lnTo>
                  <a:pt x="0" y="13519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11501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153786" y="3527733"/>
            <a:ext cx="3523096" cy="730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b="1">
                <a:solidFill>
                  <a:srgbClr val="3E5BB2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◕ Advantages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42549" y="3527733"/>
            <a:ext cx="4358498" cy="730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b="1">
                <a:solidFill>
                  <a:srgbClr val="3E5BB2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◕ Disadvantages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2591" y="4522546"/>
            <a:ext cx="6191060" cy="4194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690" lvl="1" indent="-269845" algn="l">
              <a:lnSpc>
                <a:spcPts val="3049"/>
              </a:lnSpc>
              <a:buFont typeface="Arial"/>
              <a:buChar char="•"/>
            </a:pPr>
            <a:r>
              <a:rPr lang="en-US" sz="2499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Centralized management of employee information</a:t>
            </a:r>
          </a:p>
          <a:p>
            <a:pPr marL="539690" lvl="1" indent="-269845" algn="l">
              <a:lnSpc>
                <a:spcPts val="3049"/>
              </a:lnSpc>
              <a:buFont typeface="Arial"/>
              <a:buChar char="•"/>
            </a:pPr>
            <a:r>
              <a:rPr lang="en-US" sz="2499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Easy leave application and approval process</a:t>
            </a:r>
          </a:p>
          <a:p>
            <a:pPr marL="539690" lvl="1" indent="-269845" algn="l">
              <a:lnSpc>
                <a:spcPts val="3049"/>
              </a:lnSpc>
              <a:buFont typeface="Arial"/>
              <a:buChar char="•"/>
            </a:pPr>
            <a:r>
              <a:rPr lang="en-US" sz="2499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Role-based access for Admin, HR, and Employees</a:t>
            </a:r>
          </a:p>
          <a:p>
            <a:pPr marL="539690" lvl="1" indent="-269845" algn="l">
              <a:lnSpc>
                <a:spcPts val="3049"/>
              </a:lnSpc>
              <a:buFont typeface="Arial"/>
              <a:buChar char="•"/>
            </a:pPr>
            <a:r>
              <a:rPr lang="en-US" sz="2499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Reduces manual paperwork and improves efficiency</a:t>
            </a:r>
          </a:p>
          <a:p>
            <a:pPr marL="539690" lvl="1" indent="-269845" algn="l">
              <a:lnSpc>
                <a:spcPts val="3049"/>
              </a:lnSpc>
              <a:buFont typeface="Arial"/>
              <a:buChar char="•"/>
            </a:pPr>
            <a:r>
              <a:rPr lang="en-US" sz="2499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Accurate tracking of employee leave balances</a:t>
            </a:r>
          </a:p>
          <a:p>
            <a:pPr algn="l">
              <a:lnSpc>
                <a:spcPts val="3049"/>
              </a:lnSpc>
            </a:pPr>
            <a:endParaRPr lang="en-US" sz="2499">
              <a:solidFill>
                <a:srgbClr val="1B1A1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526268" y="4522546"/>
            <a:ext cx="6191060" cy="3432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690" lvl="1" indent="-269845" algn="l">
              <a:lnSpc>
                <a:spcPts val="3049"/>
              </a:lnSpc>
              <a:buFont typeface="Arial"/>
              <a:buChar char="•"/>
            </a:pPr>
            <a:r>
              <a:rPr lang="en-US" sz="2499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Depends on internet or server availability</a:t>
            </a:r>
          </a:p>
          <a:p>
            <a:pPr marL="539690" lvl="1" indent="-269845" algn="l">
              <a:lnSpc>
                <a:spcPts val="3049"/>
              </a:lnSpc>
              <a:buFont typeface="Arial"/>
              <a:buChar char="•"/>
            </a:pPr>
            <a:r>
              <a:rPr lang="en-US" sz="2499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Limited to basic office management features</a:t>
            </a:r>
          </a:p>
          <a:p>
            <a:pPr marL="539690" lvl="1" indent="-269845" algn="l">
              <a:lnSpc>
                <a:spcPts val="3049"/>
              </a:lnSpc>
              <a:buFont typeface="Arial"/>
              <a:buChar char="•"/>
            </a:pPr>
            <a:r>
              <a:rPr lang="en-US" sz="2499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Requires proper user training for new users</a:t>
            </a:r>
          </a:p>
          <a:p>
            <a:pPr marL="539690" lvl="1" indent="-269845" algn="l">
              <a:lnSpc>
                <a:spcPts val="3049"/>
              </a:lnSpc>
              <a:buFont typeface="Arial"/>
              <a:buChar char="•"/>
            </a:pPr>
            <a:r>
              <a:rPr lang="en-US" sz="2499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Security risks if authentication is not properly maintained</a:t>
            </a:r>
          </a:p>
          <a:p>
            <a:pPr algn="l">
              <a:lnSpc>
                <a:spcPts val="3049"/>
              </a:lnSpc>
            </a:pPr>
            <a:endParaRPr lang="en-US" sz="2499">
              <a:solidFill>
                <a:srgbClr val="1B1A1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9810148" y="5143500"/>
            <a:ext cx="8477852" cy="5657039"/>
          </a:xfrm>
          <a:custGeom>
            <a:avLst/>
            <a:gdLst/>
            <a:ahLst/>
            <a:cxnLst/>
            <a:rect l="l" t="t" r="r" b="b"/>
            <a:pathLst>
              <a:path w="8477852" h="5657039">
                <a:moveTo>
                  <a:pt x="0" y="5657039"/>
                </a:moveTo>
                <a:lnTo>
                  <a:pt x="8477852" y="5657039"/>
                </a:lnTo>
                <a:lnTo>
                  <a:pt x="8477852" y="0"/>
                </a:lnTo>
                <a:lnTo>
                  <a:pt x="0" y="0"/>
                </a:lnTo>
                <a:lnTo>
                  <a:pt x="0" y="565703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1605728" y="2255430"/>
            <a:ext cx="4972038" cy="7002870"/>
          </a:xfrm>
          <a:custGeom>
            <a:avLst/>
            <a:gdLst/>
            <a:ahLst/>
            <a:cxnLst/>
            <a:rect l="l" t="t" r="r" b="b"/>
            <a:pathLst>
              <a:path w="4972038" h="7002870">
                <a:moveTo>
                  <a:pt x="4972038" y="0"/>
                </a:moveTo>
                <a:lnTo>
                  <a:pt x="0" y="0"/>
                </a:lnTo>
                <a:lnTo>
                  <a:pt x="0" y="7002870"/>
                </a:lnTo>
                <a:lnTo>
                  <a:pt x="4972038" y="7002870"/>
                </a:lnTo>
                <a:lnTo>
                  <a:pt x="497203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436405"/>
            <a:ext cx="10466491" cy="1035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>
                <a:solidFill>
                  <a:srgbClr val="1B1A17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FUTURE SCOPE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-19050" y="0"/>
            <a:ext cx="2403281" cy="1961951"/>
          </a:xfrm>
          <a:custGeom>
            <a:avLst/>
            <a:gdLst/>
            <a:ahLst/>
            <a:cxnLst/>
            <a:rect l="l" t="t" r="r" b="b"/>
            <a:pathLst>
              <a:path w="2403281" h="1961951">
                <a:moveTo>
                  <a:pt x="2403281" y="0"/>
                </a:moveTo>
                <a:lnTo>
                  <a:pt x="0" y="0"/>
                </a:lnTo>
                <a:lnTo>
                  <a:pt x="0" y="1961951"/>
                </a:lnTo>
                <a:lnTo>
                  <a:pt x="2403281" y="1961951"/>
                </a:lnTo>
                <a:lnTo>
                  <a:pt x="240328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-19050" y="0"/>
            <a:ext cx="2145705" cy="1751676"/>
          </a:xfrm>
          <a:custGeom>
            <a:avLst/>
            <a:gdLst/>
            <a:ahLst/>
            <a:cxnLst/>
            <a:rect l="l" t="t" r="r" b="b"/>
            <a:pathLst>
              <a:path w="2145705" h="1751676">
                <a:moveTo>
                  <a:pt x="2145705" y="0"/>
                </a:moveTo>
                <a:lnTo>
                  <a:pt x="0" y="0"/>
                </a:lnTo>
                <a:lnTo>
                  <a:pt x="0" y="1751676"/>
                </a:lnTo>
                <a:lnTo>
                  <a:pt x="2145705" y="1751676"/>
                </a:lnTo>
                <a:lnTo>
                  <a:pt x="214570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82591" y="3833406"/>
            <a:ext cx="8185838" cy="4351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7" lvl="1" indent="-313054" algn="l">
              <a:lnSpc>
                <a:spcPts val="4987"/>
              </a:lnSpc>
              <a:buFont typeface="Arial"/>
              <a:buChar char="•"/>
            </a:pPr>
            <a:r>
              <a:rPr lang="en-US" sz="2899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Attendance Management System</a:t>
            </a:r>
          </a:p>
          <a:p>
            <a:pPr marL="626107" lvl="1" indent="-313054" algn="l">
              <a:lnSpc>
                <a:spcPts val="4987"/>
              </a:lnSpc>
              <a:buFont typeface="Arial"/>
              <a:buChar char="•"/>
            </a:pPr>
            <a:r>
              <a:rPr lang="en-US" sz="2899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Email or SMS notifications for leave updates</a:t>
            </a:r>
          </a:p>
          <a:p>
            <a:pPr marL="626107" lvl="1" indent="-313054" algn="l">
              <a:lnSpc>
                <a:spcPts val="4987"/>
              </a:lnSpc>
              <a:buFont typeface="Arial"/>
              <a:buChar char="•"/>
            </a:pPr>
            <a:r>
              <a:rPr lang="en-US" sz="2899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Mobile application for employees</a:t>
            </a:r>
          </a:p>
          <a:p>
            <a:pPr marL="626107" lvl="1" indent="-313054" algn="l">
              <a:lnSpc>
                <a:spcPts val="4987"/>
              </a:lnSpc>
              <a:buFont typeface="Arial"/>
              <a:buChar char="•"/>
            </a:pPr>
            <a:r>
              <a:rPr lang="en-US" sz="2899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Cloud-based database for better scalability</a:t>
            </a:r>
          </a:p>
          <a:p>
            <a:pPr marL="626107" lvl="1" indent="-313054" algn="l">
              <a:lnSpc>
                <a:spcPts val="4987"/>
              </a:lnSpc>
              <a:buFont typeface="Arial"/>
              <a:buChar char="•"/>
            </a:pPr>
            <a:r>
              <a:rPr lang="en-US" sz="2899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Advanced reporting and analytics dashboard</a:t>
            </a:r>
          </a:p>
          <a:p>
            <a:pPr marL="626107" lvl="1" indent="-313054" algn="l">
              <a:lnSpc>
                <a:spcPts val="4987"/>
              </a:lnSpc>
              <a:buFont typeface="Arial"/>
              <a:buChar char="•"/>
            </a:pPr>
            <a:r>
              <a:rPr lang="en-US" sz="2899">
                <a:solidFill>
                  <a:srgbClr val="1B1A17"/>
                </a:solidFill>
                <a:latin typeface="IBM Plex Sans"/>
                <a:ea typeface="IBM Plex Sans"/>
                <a:cs typeface="IBM Plex Sans"/>
                <a:sym typeface="IBM Plex Sans"/>
              </a:rPr>
              <a:t>Salary Management</a:t>
            </a:r>
          </a:p>
          <a:p>
            <a:pPr algn="l">
              <a:lnSpc>
                <a:spcPts val="4987"/>
              </a:lnSpc>
            </a:pPr>
            <a:endParaRPr lang="en-US" sz="2899">
              <a:solidFill>
                <a:srgbClr val="1B1A1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2743744" y="0"/>
            <a:ext cx="5544256" cy="1351963"/>
          </a:xfrm>
          <a:custGeom>
            <a:avLst/>
            <a:gdLst/>
            <a:ahLst/>
            <a:cxnLst/>
            <a:rect l="l" t="t" r="r" b="b"/>
            <a:pathLst>
              <a:path w="5544256" h="1351963">
                <a:moveTo>
                  <a:pt x="0" y="0"/>
                </a:moveTo>
                <a:lnTo>
                  <a:pt x="5544256" y="0"/>
                </a:lnTo>
                <a:lnTo>
                  <a:pt x="5544256" y="1351963"/>
                </a:lnTo>
                <a:lnTo>
                  <a:pt x="0" y="13519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b="-115019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69837" y="5037867"/>
            <a:ext cx="6148326" cy="5249133"/>
          </a:xfrm>
          <a:custGeom>
            <a:avLst/>
            <a:gdLst/>
            <a:ahLst/>
            <a:cxnLst/>
            <a:rect l="l" t="t" r="r" b="b"/>
            <a:pathLst>
              <a:path w="6148326" h="5249133">
                <a:moveTo>
                  <a:pt x="0" y="0"/>
                </a:moveTo>
                <a:lnTo>
                  <a:pt x="6148326" y="0"/>
                </a:lnTo>
                <a:lnTo>
                  <a:pt x="6148326" y="5249133"/>
                </a:lnTo>
                <a:lnTo>
                  <a:pt x="0" y="52491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569366" y="3037080"/>
            <a:ext cx="11149268" cy="1035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0"/>
              </a:lnSpc>
            </a:pPr>
            <a:r>
              <a:rPr lang="en-US" sz="8000" b="1">
                <a:solidFill>
                  <a:srgbClr val="1B1A17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>
            <a:off x="11742286" y="-903658"/>
            <a:ext cx="6545714" cy="4367776"/>
          </a:xfrm>
          <a:custGeom>
            <a:avLst/>
            <a:gdLst/>
            <a:ahLst/>
            <a:cxnLst/>
            <a:rect l="l" t="t" r="r" b="b"/>
            <a:pathLst>
              <a:path w="6545714" h="4367776">
                <a:moveTo>
                  <a:pt x="0" y="0"/>
                </a:moveTo>
                <a:lnTo>
                  <a:pt x="6545714" y="0"/>
                </a:lnTo>
                <a:lnTo>
                  <a:pt x="6545714" y="4367776"/>
                </a:lnTo>
                <a:lnTo>
                  <a:pt x="0" y="4367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0" y="-1393518"/>
            <a:ext cx="6545714" cy="4367776"/>
          </a:xfrm>
          <a:custGeom>
            <a:avLst/>
            <a:gdLst/>
            <a:ahLst/>
            <a:cxnLst/>
            <a:rect l="l" t="t" r="r" b="b"/>
            <a:pathLst>
              <a:path w="6545714" h="4367776">
                <a:moveTo>
                  <a:pt x="6545714" y="0"/>
                </a:moveTo>
                <a:lnTo>
                  <a:pt x="0" y="0"/>
                </a:lnTo>
                <a:lnTo>
                  <a:pt x="0" y="4367777"/>
                </a:lnTo>
                <a:lnTo>
                  <a:pt x="6545714" y="4367777"/>
                </a:lnTo>
                <a:lnTo>
                  <a:pt x="65457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</Words>
  <Application>Microsoft Office PowerPoint</Application>
  <PresentationFormat>Custom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IBM Plex Sans</vt:lpstr>
      <vt:lpstr>Arial</vt:lpstr>
      <vt:lpstr>Calibri</vt:lpstr>
      <vt:lpstr>IBM Plex Sans Bold</vt:lpstr>
      <vt:lpstr>IBM Plex Sans Condensed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Thank you</dc:title>
  <cp:lastModifiedBy>Krish Zinzuvadia</cp:lastModifiedBy>
  <cp:revision>1</cp:revision>
  <dcterms:created xsi:type="dcterms:W3CDTF">2006-08-16T00:00:00Z</dcterms:created>
  <dcterms:modified xsi:type="dcterms:W3CDTF">2026-03-14T16:00:19Z</dcterms:modified>
  <dc:identifier>DAHD7GzYbgk</dc:identifier>
</cp:coreProperties>
</file>